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87" r:id="rId3"/>
    <p:sldId id="276" r:id="rId4"/>
    <p:sldId id="286" r:id="rId5"/>
    <p:sldId id="289" r:id="rId6"/>
    <p:sldId id="288" r:id="rId7"/>
    <p:sldId id="290" r:id="rId8"/>
    <p:sldId id="291" r:id="rId9"/>
    <p:sldId id="292" r:id="rId10"/>
    <p:sldId id="283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n, Daniel" initials="AD" lastIdx="1" clrIdx="0">
    <p:extLst>
      <p:ext uri="{19B8F6BF-5375-455C-9EA6-DF929625EA0E}">
        <p15:presenceInfo xmlns:p15="http://schemas.microsoft.com/office/powerpoint/2012/main" userId="Ahn, Dani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howGuides="1">
      <p:cViewPr varScale="1">
        <p:scale>
          <a:sx n="74" d="100"/>
          <a:sy n="74" d="100"/>
        </p:scale>
        <p:origin x="54" y="414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7/16/2021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7/16/2021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7/16/2021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7/16/2021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7/16/2021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7/16/2021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7/16/2021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7/16/2021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7/16/2021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Python 3. String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윤지노 학생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9FC9F2F-A1AD-4FC2-858E-9A440EE4AE1E}"/>
              </a:ext>
            </a:extLst>
          </p:cNvPr>
          <p:cNvSpPr txBox="1">
            <a:spLocks/>
          </p:cNvSpPr>
          <p:nvPr/>
        </p:nvSpPr>
        <p:spPr>
          <a:xfrm>
            <a:off x="8686700" y="6093296"/>
            <a:ext cx="2736304" cy="567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Euphemia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Daniel Ahn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Print String with format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8C785A3E-A3C5-4E59-9109-3DABBA795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sz="2400" dirty="0"/>
              <a:t>print("I am </a:t>
            </a:r>
            <a:r>
              <a:rPr lang="en-US" sz="2400" dirty="0">
                <a:solidFill>
                  <a:srgbClr val="FF0000"/>
                </a:solidFill>
              </a:rPr>
              <a:t>%s, %d</a:t>
            </a:r>
            <a:r>
              <a:rPr lang="en-US" sz="2400" dirty="0"/>
              <a:t>" </a:t>
            </a:r>
            <a:r>
              <a:rPr lang="en-US" sz="2400" dirty="0">
                <a:solidFill>
                  <a:srgbClr val="0070C0"/>
                </a:solidFill>
              </a:rPr>
              <a:t>% (“John", 100)</a:t>
            </a:r>
            <a:r>
              <a:rPr lang="en-US" sz="2400" dirty="0"/>
              <a:t>) # no comma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print("I am </a:t>
            </a:r>
            <a:r>
              <a:rPr lang="en-US" sz="2400" dirty="0">
                <a:solidFill>
                  <a:srgbClr val="FF0000"/>
                </a:solidFill>
              </a:rPr>
              <a:t>{}, {}</a:t>
            </a:r>
            <a:r>
              <a:rPr lang="en-US" sz="2400" dirty="0"/>
              <a:t>" </a:t>
            </a:r>
            <a:r>
              <a:rPr lang="en-US" sz="2400" dirty="0">
                <a:solidFill>
                  <a:srgbClr val="0070C0"/>
                </a:solidFill>
              </a:rPr>
              <a:t>.format(" John ", 100)</a:t>
            </a:r>
            <a:r>
              <a:rPr lang="en-US" sz="2400" dirty="0"/>
              <a:t>) </a:t>
            </a:r>
          </a:p>
          <a:p>
            <a:r>
              <a:rPr lang="en-US" sz="2400" dirty="0"/>
              <a:t>print("I am </a:t>
            </a:r>
            <a:r>
              <a:rPr lang="en-US" sz="2400" dirty="0">
                <a:solidFill>
                  <a:srgbClr val="FF0000"/>
                </a:solidFill>
              </a:rPr>
              <a:t>{1}, {0}</a:t>
            </a:r>
            <a:r>
              <a:rPr lang="en-US" sz="2400" dirty="0"/>
              <a:t>" </a:t>
            </a:r>
            <a:r>
              <a:rPr lang="en-US" sz="2400" dirty="0">
                <a:solidFill>
                  <a:srgbClr val="0070C0"/>
                </a:solidFill>
              </a:rPr>
              <a:t>.format(" John ", 100)</a:t>
            </a:r>
            <a:r>
              <a:rPr lang="en-US" sz="2400" dirty="0"/>
              <a:t>) </a:t>
            </a:r>
          </a:p>
          <a:p>
            <a:r>
              <a:rPr lang="en-US" sz="2400" dirty="0"/>
              <a:t>print("I am </a:t>
            </a:r>
            <a:r>
              <a:rPr lang="en-US" sz="2400" dirty="0">
                <a:solidFill>
                  <a:srgbClr val="FF0000"/>
                </a:solidFill>
              </a:rPr>
              <a:t>{name}, {age}</a:t>
            </a:r>
            <a:r>
              <a:rPr lang="en-US" sz="2400" dirty="0"/>
              <a:t>" </a:t>
            </a:r>
            <a:r>
              <a:rPr lang="en-US" sz="2400" dirty="0">
                <a:solidFill>
                  <a:srgbClr val="0070C0"/>
                </a:solidFill>
              </a:rPr>
              <a:t>.format(name = " John ", age = 100)</a:t>
            </a:r>
            <a:r>
              <a:rPr lang="en-US" sz="2400" dirty="0"/>
              <a:t>)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print(</a:t>
            </a:r>
            <a:r>
              <a:rPr lang="en-US" sz="2400" dirty="0" err="1">
                <a:solidFill>
                  <a:srgbClr val="0070C0"/>
                </a:solidFill>
              </a:rPr>
              <a:t>f</a:t>
            </a:r>
            <a:r>
              <a:rPr lang="en-US" sz="2400" dirty="0" err="1"/>
              <a:t>"My</a:t>
            </a:r>
            <a:r>
              <a:rPr lang="en-US" sz="2400" dirty="0"/>
              <a:t> phone number is </a:t>
            </a:r>
            <a:r>
              <a:rPr lang="en-US" sz="2400" dirty="0">
                <a:solidFill>
                  <a:srgbClr val="FF0000"/>
                </a:solidFill>
              </a:rPr>
              <a:t>{</a:t>
            </a:r>
            <a:r>
              <a:rPr lang="en-US" sz="2400" dirty="0" err="1">
                <a:solidFill>
                  <a:srgbClr val="FF0000"/>
                </a:solidFill>
              </a:rPr>
              <a:t>phoneNumber</a:t>
            </a:r>
            <a:r>
              <a:rPr lang="en-US" sz="2400" dirty="0">
                <a:solidFill>
                  <a:srgbClr val="FF0000"/>
                </a:solidFill>
              </a:rPr>
              <a:t>}</a:t>
            </a:r>
            <a:r>
              <a:rPr lang="en-US" sz="24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47609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String manipulation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B5B94F82-6D7B-43B0-BE64-33BF9E483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/>
              <a:t>String: a set of characters with “ and  ”</a:t>
            </a:r>
          </a:p>
          <a:p>
            <a:pPr marL="365760" lvl="1" indent="0">
              <a:buNone/>
            </a:pPr>
            <a:r>
              <a:rPr lang="en-US" dirty="0"/>
              <a:t>e.g., “</a:t>
            </a:r>
            <a:r>
              <a:rPr lang="en-US" dirty="0" err="1"/>
              <a:t>abcde</a:t>
            </a:r>
            <a:r>
              <a:rPr lang="en-US" dirty="0"/>
              <a:t>”</a:t>
            </a:r>
          </a:p>
          <a:p>
            <a:r>
              <a:rPr lang="en-US" dirty="0" err="1"/>
              <a:t>len</a:t>
            </a:r>
            <a:r>
              <a:rPr lang="en-US" dirty="0"/>
              <a:t>: length of String: </a:t>
            </a:r>
          </a:p>
          <a:p>
            <a:pPr marL="365760" lvl="1" indent="0">
              <a:buNone/>
            </a:pPr>
            <a:r>
              <a:rPr lang="en-US" dirty="0"/>
              <a:t>e.g., </a:t>
            </a:r>
            <a:r>
              <a:rPr lang="en-US" dirty="0" err="1"/>
              <a:t>len</a:t>
            </a:r>
            <a:r>
              <a:rPr lang="en-US" dirty="0"/>
              <a:t>(“</a:t>
            </a:r>
            <a:r>
              <a:rPr lang="en-US" dirty="0" err="1"/>
              <a:t>abcde</a:t>
            </a:r>
            <a:r>
              <a:rPr lang="en-US" dirty="0"/>
              <a:t>”) -&gt; 5</a:t>
            </a:r>
          </a:p>
          <a:p>
            <a:r>
              <a:rPr lang="en-US" dirty="0"/>
              <a:t>Extract the specific </a:t>
            </a:r>
            <a:r>
              <a:rPr lang="en-US" dirty="0" err="1"/>
              <a:t>charaters</a:t>
            </a:r>
            <a:r>
              <a:rPr lang="en-US" dirty="0"/>
              <a:t> in a string</a:t>
            </a:r>
          </a:p>
          <a:p>
            <a:pPr marL="365760" lvl="1" indent="0">
              <a:buNone/>
            </a:pPr>
            <a:r>
              <a:rPr lang="en-US" dirty="0"/>
              <a:t>[starting position : ending position + 1]</a:t>
            </a:r>
          </a:p>
          <a:p>
            <a:pPr marL="365760" lvl="1" indent="0">
              <a:buNone/>
            </a:pPr>
            <a:r>
              <a:rPr lang="en-US" dirty="0"/>
              <a:t>e.g., “</a:t>
            </a:r>
            <a:r>
              <a:rPr lang="en-US" dirty="0" err="1"/>
              <a:t>abcde</a:t>
            </a:r>
            <a:r>
              <a:rPr lang="en-US" dirty="0"/>
              <a:t>”[0:2] -&gt; “ab”</a:t>
            </a:r>
          </a:p>
        </p:txBody>
      </p:sp>
    </p:spTree>
    <p:extLst>
      <p:ext uri="{BB962C8B-B14F-4D97-AF65-F5344CB8AC3E}">
        <p14:creationId xmlns:p14="http://schemas.microsoft.com/office/powerpoint/2010/main" val="373090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8C785A3E-A3C5-4E59-9109-3DABBA795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 err="1"/>
              <a:t>phoneNumber</a:t>
            </a:r>
            <a:r>
              <a:rPr lang="en-US" dirty="0"/>
              <a:t> = "A23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>
                <a:solidFill>
                  <a:srgbClr val="0070C0"/>
                </a:solidFill>
              </a:rPr>
              <a:t>B56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>
                <a:solidFill>
                  <a:srgbClr val="00B050"/>
                </a:solidFill>
              </a:rPr>
              <a:t>B890</a:t>
            </a:r>
            <a:r>
              <a:rPr lang="en-US" dirty="0"/>
              <a:t>"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print (“length: " + </a:t>
            </a:r>
            <a:r>
              <a:rPr lang="en-US" dirty="0" err="1"/>
              <a:t>phoneNumber</a:t>
            </a:r>
            <a:r>
              <a:rPr lang="en-US" dirty="0"/>
              <a:t>)</a:t>
            </a:r>
          </a:p>
          <a:p>
            <a:r>
              <a:rPr lang="en-US" dirty="0"/>
              <a:t>print ("phoneNumber1: " + </a:t>
            </a:r>
            <a:r>
              <a:rPr lang="en-US" dirty="0" err="1"/>
              <a:t>phoneNumber</a:t>
            </a:r>
            <a:r>
              <a:rPr lang="en-US" dirty="0"/>
              <a:t>[:3])</a:t>
            </a:r>
          </a:p>
          <a:p>
            <a:r>
              <a:rPr lang="en-US" dirty="0"/>
              <a:t>print ("phoneNumber2: " + </a:t>
            </a:r>
            <a:r>
              <a:rPr lang="en-US" dirty="0" err="1"/>
              <a:t>phoneNumber</a:t>
            </a:r>
            <a:r>
              <a:rPr lang="en-US" dirty="0"/>
              <a:t>[4:7])</a:t>
            </a:r>
          </a:p>
          <a:p>
            <a:r>
              <a:rPr lang="en-US" dirty="0"/>
              <a:t>print ("phoneNumber3: " + </a:t>
            </a:r>
            <a:r>
              <a:rPr lang="en-US" dirty="0" err="1"/>
              <a:t>phoneNumber</a:t>
            </a:r>
            <a:r>
              <a:rPr lang="en-US" dirty="0"/>
              <a:t>[8:])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D5935F-2B79-4A38-8162-5F010C017ADF}"/>
              </a:ext>
            </a:extLst>
          </p:cNvPr>
          <p:cNvSpPr txBox="1"/>
          <p:nvPr/>
        </p:nvSpPr>
        <p:spPr>
          <a:xfrm>
            <a:off x="4726260" y="1259202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0 1 2 </a:t>
            </a:r>
            <a:r>
              <a:rPr lang="en-US" b="1" dirty="0">
                <a:solidFill>
                  <a:srgbClr val="FF0000"/>
                </a:solidFill>
              </a:rPr>
              <a:t>3 </a:t>
            </a:r>
            <a:r>
              <a:rPr lang="en-US" b="1" dirty="0">
                <a:solidFill>
                  <a:srgbClr val="0070C0"/>
                </a:solidFill>
              </a:rPr>
              <a:t>4 5 6 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8 91011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6E7463D-38E3-4E49-9CA2-C70F1B69D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690906"/>
              </p:ext>
            </p:extLst>
          </p:nvPr>
        </p:nvGraphicFramePr>
        <p:xfrm>
          <a:off x="2031472" y="2339096"/>
          <a:ext cx="8125872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77156">
                  <a:extLst>
                    <a:ext uri="{9D8B030D-6E8A-4147-A177-3AD203B41FA5}">
                      <a16:colId xmlns:a16="http://schemas.microsoft.com/office/drawing/2014/main" val="2169198847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1170075927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1346439547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369620255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1132354490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231690075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622931568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3221694459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3528961851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473664150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988618182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100590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42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‘2’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‘3’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‘-’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‘B’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‘5’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‘6’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‘-’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‘B’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‘8’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‘9’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‘0’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343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62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8C785A3E-A3C5-4E59-9109-3DABBA795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 err="1"/>
              <a:t>phoneNumber</a:t>
            </a:r>
            <a:r>
              <a:rPr lang="en-US" dirty="0"/>
              <a:t> = "A23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>
                <a:solidFill>
                  <a:srgbClr val="0070C0"/>
                </a:solidFill>
              </a:rPr>
              <a:t>B56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>
                <a:solidFill>
                  <a:srgbClr val="00B050"/>
                </a:solidFill>
              </a:rPr>
              <a:t>B890</a:t>
            </a:r>
            <a:r>
              <a:rPr lang="en-US" dirty="0"/>
              <a:t>"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print (“length: " + </a:t>
            </a:r>
            <a:r>
              <a:rPr lang="en-US" dirty="0" err="1"/>
              <a:t>phoneNumber</a:t>
            </a:r>
            <a:r>
              <a:rPr lang="en-US" dirty="0"/>
              <a:t>) # 12</a:t>
            </a:r>
          </a:p>
          <a:p>
            <a:r>
              <a:rPr lang="en-US" dirty="0"/>
              <a:t>print ("phoneNumber1: " + </a:t>
            </a:r>
            <a:r>
              <a:rPr lang="en-US" dirty="0" err="1"/>
              <a:t>phoneNumber</a:t>
            </a:r>
            <a:r>
              <a:rPr lang="en-US" dirty="0">
                <a:solidFill>
                  <a:srgbClr val="FF0000"/>
                </a:solidFill>
              </a:rPr>
              <a:t>[-size:3])</a:t>
            </a:r>
          </a:p>
          <a:p>
            <a:r>
              <a:rPr lang="en-US" dirty="0"/>
              <a:t>print ("phoneNumber2: " + </a:t>
            </a:r>
            <a:r>
              <a:rPr lang="en-US" dirty="0" err="1"/>
              <a:t>phoneNumber</a:t>
            </a:r>
            <a:r>
              <a:rPr lang="en-US" dirty="0"/>
              <a:t>[4:7])</a:t>
            </a:r>
          </a:p>
          <a:p>
            <a:r>
              <a:rPr lang="en-US" dirty="0"/>
              <a:t>print ("phoneNumber3: " + </a:t>
            </a:r>
            <a:r>
              <a:rPr lang="en-US" dirty="0" err="1"/>
              <a:t>phoneNumber</a:t>
            </a:r>
            <a:r>
              <a:rPr lang="en-US" dirty="0">
                <a:solidFill>
                  <a:srgbClr val="FF0000"/>
                </a:solidFill>
              </a:rPr>
              <a:t>[-4:]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D5935F-2B79-4A38-8162-5F010C017ADF}"/>
              </a:ext>
            </a:extLst>
          </p:cNvPr>
          <p:cNvSpPr txBox="1"/>
          <p:nvPr/>
        </p:nvSpPr>
        <p:spPr>
          <a:xfrm>
            <a:off x="4726260" y="1259202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0 1 2 </a:t>
            </a:r>
            <a:r>
              <a:rPr lang="en-US" b="1" dirty="0">
                <a:solidFill>
                  <a:srgbClr val="FF0000"/>
                </a:solidFill>
              </a:rPr>
              <a:t>3 </a:t>
            </a:r>
            <a:r>
              <a:rPr lang="en-US" b="1" dirty="0">
                <a:solidFill>
                  <a:srgbClr val="0070C0"/>
                </a:solidFill>
              </a:rPr>
              <a:t>4 5 6 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8 91011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6E7463D-38E3-4E49-9CA2-C70F1B69DB12}"/>
              </a:ext>
            </a:extLst>
          </p:cNvPr>
          <p:cNvGraphicFramePr>
            <a:graphicFrameLocks noGrp="1"/>
          </p:cNvGraphicFramePr>
          <p:nvPr/>
        </p:nvGraphicFramePr>
        <p:xfrm>
          <a:off x="2031472" y="2339096"/>
          <a:ext cx="8125872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77156">
                  <a:extLst>
                    <a:ext uri="{9D8B030D-6E8A-4147-A177-3AD203B41FA5}">
                      <a16:colId xmlns:a16="http://schemas.microsoft.com/office/drawing/2014/main" val="2169198847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1170075927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1346439547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369620255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1132354490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231690075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622931568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3221694459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3528961851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473664150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988618182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100590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42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‘2’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‘3’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‘-’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‘B’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‘5’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‘6’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‘-’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‘B’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‘8’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‘9’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‘0’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343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08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Index of String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B5B94F82-6D7B-43B0-BE64-33BF9E483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/>
              <a:t>position of “B”: index(“B”) -&gt; 4  </a:t>
            </a:r>
          </a:p>
          <a:p>
            <a:pPr lvl="1"/>
            <a:r>
              <a:rPr lang="en-US" dirty="0"/>
              <a:t>if not exist, an error occurs.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phoneNumber</a:t>
            </a:r>
            <a:r>
              <a:rPr lang="en-US" dirty="0"/>
              <a:t> = "A23-B56-B890"</a:t>
            </a:r>
          </a:p>
          <a:p>
            <a:pPr marL="365760" lvl="1" indent="0">
              <a:buNone/>
            </a:pPr>
            <a:r>
              <a:rPr lang="en-US" dirty="0"/>
              <a:t>      </a:t>
            </a:r>
            <a:r>
              <a:rPr lang="en-US" dirty="0" err="1"/>
              <a:t>currentIdx</a:t>
            </a:r>
            <a:r>
              <a:rPr lang="en-US" dirty="0"/>
              <a:t> = </a:t>
            </a:r>
            <a:r>
              <a:rPr lang="en-US" dirty="0" err="1"/>
              <a:t>phoneNumber.index</a:t>
            </a:r>
            <a:r>
              <a:rPr lang="en-US" dirty="0"/>
              <a:t>("B")</a:t>
            </a:r>
          </a:p>
          <a:p>
            <a:pPr marL="365760" lvl="1" indent="0">
              <a:buNone/>
            </a:pPr>
            <a:r>
              <a:rPr lang="en-US" dirty="0"/>
              <a:t>print(</a:t>
            </a:r>
            <a:r>
              <a:rPr lang="en-US" dirty="0" err="1"/>
              <a:t>phoneNumber.count</a:t>
            </a:r>
            <a:r>
              <a:rPr lang="en-US" dirty="0"/>
              <a:t>("B"))</a:t>
            </a:r>
          </a:p>
          <a:p>
            <a:pPr marL="36576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80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8C785A3E-A3C5-4E59-9109-3DABBA795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 err="1"/>
              <a:t>phoneNumber</a:t>
            </a:r>
            <a:r>
              <a:rPr lang="en-US" dirty="0"/>
              <a:t> = "A23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>
                <a:solidFill>
                  <a:srgbClr val="0070C0"/>
                </a:solidFill>
              </a:rPr>
              <a:t>B56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>
                <a:solidFill>
                  <a:srgbClr val="00B050"/>
                </a:solidFill>
              </a:rPr>
              <a:t>B890</a:t>
            </a:r>
            <a:r>
              <a:rPr lang="en-US" dirty="0"/>
              <a:t>"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print (“length: " + </a:t>
            </a:r>
            <a:r>
              <a:rPr lang="en-US" dirty="0" err="1"/>
              <a:t>phoneNumber</a:t>
            </a:r>
            <a:r>
              <a:rPr lang="en-US" dirty="0"/>
              <a:t>) # 12</a:t>
            </a:r>
          </a:p>
          <a:p>
            <a:r>
              <a:rPr lang="en-US" dirty="0"/>
              <a:t>print ("phoneNumber1: " + </a:t>
            </a:r>
            <a:r>
              <a:rPr lang="en-US" dirty="0" err="1"/>
              <a:t>phoneNumber</a:t>
            </a:r>
            <a:r>
              <a:rPr lang="en-US" dirty="0">
                <a:solidFill>
                  <a:srgbClr val="FF0000"/>
                </a:solidFill>
              </a:rPr>
              <a:t>[-size:3])</a:t>
            </a:r>
          </a:p>
          <a:p>
            <a:r>
              <a:rPr lang="en-US" dirty="0"/>
              <a:t>print ("phoneNumber2:",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phoneNumber.index</a:t>
            </a:r>
            <a:r>
              <a:rPr lang="en-US" dirty="0">
                <a:solidFill>
                  <a:srgbClr val="FF0000"/>
                </a:solidFill>
              </a:rPr>
              <a:t>("B", </a:t>
            </a:r>
            <a:r>
              <a:rPr lang="en-US" dirty="0" err="1">
                <a:solidFill>
                  <a:srgbClr val="FF0000"/>
                </a:solidFill>
              </a:rPr>
              <a:t>currentIdx</a:t>
            </a:r>
            <a:r>
              <a:rPr lang="en-US" dirty="0">
                <a:solidFill>
                  <a:srgbClr val="FF0000"/>
                </a:solidFill>
              </a:rPr>
              <a:t> + 1))</a:t>
            </a:r>
          </a:p>
          <a:p>
            <a:r>
              <a:rPr lang="en-US" dirty="0"/>
              <a:t>print ("phoneNumber3: " + </a:t>
            </a:r>
            <a:r>
              <a:rPr lang="en-US" dirty="0" err="1"/>
              <a:t>phoneNumber</a:t>
            </a:r>
            <a:r>
              <a:rPr lang="en-US" dirty="0">
                <a:solidFill>
                  <a:srgbClr val="FF0000"/>
                </a:solidFill>
              </a:rPr>
              <a:t>[-4:]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D5935F-2B79-4A38-8162-5F010C017ADF}"/>
              </a:ext>
            </a:extLst>
          </p:cNvPr>
          <p:cNvSpPr txBox="1"/>
          <p:nvPr/>
        </p:nvSpPr>
        <p:spPr>
          <a:xfrm>
            <a:off x="4726260" y="1259202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0 1 2 </a:t>
            </a:r>
            <a:r>
              <a:rPr lang="en-US" b="1" dirty="0">
                <a:solidFill>
                  <a:srgbClr val="FF0000"/>
                </a:solidFill>
              </a:rPr>
              <a:t>3 </a:t>
            </a:r>
            <a:r>
              <a:rPr lang="en-US" b="1" dirty="0">
                <a:solidFill>
                  <a:srgbClr val="0070C0"/>
                </a:solidFill>
              </a:rPr>
              <a:t>4 5 6 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8 91011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6E7463D-38E3-4E49-9CA2-C70F1B69DB12}"/>
              </a:ext>
            </a:extLst>
          </p:cNvPr>
          <p:cNvGraphicFramePr>
            <a:graphicFrameLocks noGrp="1"/>
          </p:cNvGraphicFramePr>
          <p:nvPr/>
        </p:nvGraphicFramePr>
        <p:xfrm>
          <a:off x="2031472" y="2339096"/>
          <a:ext cx="8125872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77156">
                  <a:extLst>
                    <a:ext uri="{9D8B030D-6E8A-4147-A177-3AD203B41FA5}">
                      <a16:colId xmlns:a16="http://schemas.microsoft.com/office/drawing/2014/main" val="2169198847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1170075927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1346439547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369620255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1132354490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231690075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622931568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3221694459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3528961851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473664150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988618182"/>
                    </a:ext>
                  </a:extLst>
                </a:gridCol>
                <a:gridCol w="677156">
                  <a:extLst>
                    <a:ext uri="{9D8B030D-6E8A-4147-A177-3AD203B41FA5}">
                      <a16:colId xmlns:a16="http://schemas.microsoft.com/office/drawing/2014/main" val="2100590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42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‘2’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‘3’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‘-’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‘B’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‘5’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‘6’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‘-’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‘B’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‘8’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‘9’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‘0’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343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52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Useful functions for String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B5B94F82-6D7B-43B0-BE64-33BF9E483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/>
              <a:t>count</a:t>
            </a:r>
          </a:p>
          <a:p>
            <a:pPr lvl="1"/>
            <a:r>
              <a:rPr lang="en-US" dirty="0"/>
              <a:t>count (“B”) -&gt; 2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phoneNumber</a:t>
            </a:r>
            <a:r>
              <a:rPr lang="en-US" dirty="0"/>
              <a:t> = "A23-B56-B890”</a:t>
            </a:r>
          </a:p>
          <a:p>
            <a:pPr lvl="1"/>
            <a:r>
              <a:rPr lang="en-US" dirty="0"/>
              <a:t>print(</a:t>
            </a:r>
            <a:r>
              <a:rPr lang="en-US" dirty="0" err="1"/>
              <a:t>phoneNumber.count</a:t>
            </a:r>
            <a:r>
              <a:rPr lang="en-US" dirty="0"/>
              <a:t>("B"))</a:t>
            </a:r>
          </a:p>
          <a:p>
            <a:r>
              <a:rPr lang="en-US" dirty="0"/>
              <a:t>find </a:t>
            </a:r>
          </a:p>
          <a:p>
            <a:pPr lvl="1"/>
            <a:r>
              <a:rPr lang="en-US" dirty="0"/>
              <a:t>find (“B8”) -&gt; 8 #if not, </a:t>
            </a:r>
            <a:r>
              <a:rPr lang="en-US" dirty="0">
                <a:solidFill>
                  <a:srgbClr val="FF0000"/>
                </a:solidFill>
              </a:rPr>
              <a:t>-1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phoneNumber</a:t>
            </a:r>
            <a:r>
              <a:rPr lang="en-US" dirty="0"/>
              <a:t> = "A23-B56-B890”</a:t>
            </a:r>
          </a:p>
          <a:p>
            <a:pPr marL="365760" lvl="1" indent="0">
              <a:buNone/>
            </a:pPr>
            <a:r>
              <a:rPr lang="en-US" dirty="0"/>
              <a:t>      print("contains('B89') -&gt; %d" % </a:t>
            </a:r>
            <a:r>
              <a:rPr lang="en-US" dirty="0" err="1"/>
              <a:t>phoneNumber.find</a:t>
            </a:r>
            <a:r>
              <a:rPr lang="en-US" dirty="0"/>
              <a:t>('B8'))</a:t>
            </a:r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74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Useful functions for String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B5B94F82-6D7B-43B0-BE64-33BF9E483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/>
              <a:t>replace</a:t>
            </a:r>
          </a:p>
          <a:p>
            <a:pPr marL="365760" lvl="1" indent="0">
              <a:buNone/>
            </a:pPr>
            <a:r>
              <a:rPr lang="en-US" dirty="0"/>
              <a:t>e.g., </a:t>
            </a:r>
            <a:r>
              <a:rPr lang="en-US" dirty="0" err="1"/>
              <a:t>phoneNumber</a:t>
            </a:r>
            <a:r>
              <a:rPr lang="en-US" dirty="0"/>
              <a:t> = "A23-B56-B890”</a:t>
            </a:r>
          </a:p>
          <a:p>
            <a:pPr marL="365760" lvl="1" indent="0">
              <a:buNone/>
            </a:pPr>
            <a:r>
              <a:rPr lang="en-US" dirty="0"/>
              <a:t>	print(</a:t>
            </a:r>
            <a:r>
              <a:rPr lang="en-US" dirty="0" err="1"/>
              <a:t>phoneNumber.replace</a:t>
            </a:r>
            <a:r>
              <a:rPr lang="en-US" dirty="0"/>
              <a:t>('-', '.’))</a:t>
            </a:r>
          </a:p>
          <a:p>
            <a:r>
              <a:rPr lang="en-US" dirty="0"/>
              <a:t>lower()/upper()</a:t>
            </a:r>
          </a:p>
          <a:p>
            <a:pPr marL="365760" lvl="1" indent="0">
              <a:buNone/>
            </a:pPr>
            <a:r>
              <a:rPr lang="en-US" dirty="0"/>
              <a:t>e.g., </a:t>
            </a:r>
            <a:r>
              <a:rPr lang="en-US" dirty="0" err="1"/>
              <a:t>phoneNumber</a:t>
            </a:r>
            <a:r>
              <a:rPr lang="en-US" dirty="0"/>
              <a:t> = "A23-B56-B890“</a:t>
            </a:r>
          </a:p>
          <a:p>
            <a:pPr marL="365760" lvl="1" indent="0">
              <a:buNone/>
            </a:pPr>
            <a:r>
              <a:rPr lang="en-US" dirty="0"/>
              <a:t>	print(</a:t>
            </a:r>
            <a:r>
              <a:rPr lang="en-US" dirty="0" err="1"/>
              <a:t>phoneNumber.lower</a:t>
            </a:r>
            <a:r>
              <a:rPr lang="en-US" dirty="0"/>
              <a:t>())</a:t>
            </a:r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80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Assignments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b="1"/>
              <a:t>My password </a:t>
            </a:r>
            <a:r>
              <a:rPr lang="en-US" b="1" dirty="0"/>
              <a:t>generator for a web site</a:t>
            </a:r>
          </a:p>
          <a:p>
            <a:r>
              <a:rPr lang="en-US" sz="2000" dirty="0" err="1"/>
              <a:t>url</a:t>
            </a:r>
            <a:r>
              <a:rPr lang="en-US" sz="2000" dirty="0"/>
              <a:t> = “http://www.google.com”</a:t>
            </a:r>
          </a:p>
          <a:p>
            <a:r>
              <a:rPr lang="en-US" sz="2000" dirty="0"/>
              <a:t>Rule#1. Remove "http://""</a:t>
            </a:r>
          </a:p>
          <a:p>
            <a:r>
              <a:rPr lang="en-US" sz="2000" dirty="0"/>
              <a:t>        Remove the characters after the 2nd '.'</a:t>
            </a:r>
          </a:p>
          <a:p>
            <a:r>
              <a:rPr lang="en-US" sz="2000" dirty="0"/>
              <a:t>Rule#2. the first 3 characters out of the rest of character </a:t>
            </a:r>
          </a:p>
          <a:p>
            <a:r>
              <a:rPr lang="en-US" sz="2000" dirty="0"/>
              <a:t>      + the number of characters </a:t>
            </a:r>
          </a:p>
          <a:p>
            <a:r>
              <a:rPr lang="en-US" sz="2000" dirty="0"/>
              <a:t>      + the number of 'o' </a:t>
            </a:r>
          </a:p>
          <a:p>
            <a:r>
              <a:rPr lang="en-US" sz="2000" dirty="0"/>
              <a:t>      + '!'</a:t>
            </a:r>
          </a:p>
          <a:p>
            <a:r>
              <a:rPr lang="en-US" dirty="0"/>
              <a:t>goo62!</a:t>
            </a:r>
          </a:p>
        </p:txBody>
      </p:sp>
    </p:spTree>
    <p:extLst>
      <p:ext uri="{BB962C8B-B14F-4D97-AF65-F5344CB8AC3E}">
        <p14:creationId xmlns:p14="http://schemas.microsoft.com/office/powerpoint/2010/main" val="100696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767</TotalTime>
  <Words>694</Words>
  <Application>Microsoft Office PowerPoint</Application>
  <PresentationFormat>Custom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Euphemia</vt:lpstr>
      <vt:lpstr>Math 16x9</vt:lpstr>
      <vt:lpstr>Python 3. String</vt:lpstr>
      <vt:lpstr>Print String with format</vt:lpstr>
      <vt:lpstr>String manipulation</vt:lpstr>
      <vt:lpstr>Exercises</vt:lpstr>
      <vt:lpstr>Exercises</vt:lpstr>
      <vt:lpstr>Index of String</vt:lpstr>
      <vt:lpstr>Exercises</vt:lpstr>
      <vt:lpstr>Useful functions for String</vt:lpstr>
      <vt:lpstr>Useful functions for String</vt:lpstr>
      <vt:lpstr>Assignments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Ahn, Daniel</dc:creator>
  <cp:lastModifiedBy>Ahn, Daniel</cp:lastModifiedBy>
  <cp:revision>107</cp:revision>
  <dcterms:created xsi:type="dcterms:W3CDTF">2021-06-19T05:53:00Z</dcterms:created>
  <dcterms:modified xsi:type="dcterms:W3CDTF">2021-07-16T21:52:03Z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